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8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2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83" d="100"/>
          <a:sy n="83" d="100"/>
        </p:scale>
        <p:origin x="408" y="54"/>
      </p:cViewPr>
      <p:guideLst>
        <p:guide orient="horz" pos="2182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9.png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png"/><Relationship Id="rId8" Type="http://schemas.openxmlformats.org/officeDocument/2006/relationships/image" Target="../media/image19.png"/><Relationship Id="rId7" Type="http://schemas.openxmlformats.org/officeDocument/2006/relationships/image" Target="../media/image18.png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image" Target="../media/image24.png"/><Relationship Id="rId7" Type="http://schemas.openxmlformats.org/officeDocument/2006/relationships/image" Target="../media/image23.png"/><Relationship Id="rId6" Type="http://schemas.openxmlformats.org/officeDocument/2006/relationships/image" Target="../media/image22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0" Type="http://schemas.openxmlformats.org/officeDocument/2006/relationships/slideLayout" Target="../slideLayouts/slideLayout7.xml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31.png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806440" y="0"/>
            <a:ext cx="6400800" cy="6858000"/>
          </a:xfrm>
          <a:prstGeom prst="rect">
            <a:avLst/>
          </a:prstGeom>
          <a:solidFill>
            <a:srgbClr val="132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mage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" y="320040"/>
            <a:ext cx="643346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34440" y="411480"/>
            <a:ext cx="3474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132752"/>
                </a:solidFill>
                <a:latin typeface="Aptos"/>
              </a:rPr>
              <a:t>IILM UNIVERSITY</a:t>
            </a:r>
            <a:endParaRPr sz="2200" b="1">
              <a:solidFill>
                <a:srgbClr val="132752"/>
              </a:solidFill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320040" y="1828800"/>
            <a:ext cx="5120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2F74B0"/>
                </a:solidFill>
                <a:latin typeface="Aptos"/>
              </a:rPr>
              <a:t>VIRTUALWORKS LAB INTERNSHIP</a:t>
            </a:r>
            <a:endParaRPr sz="1200" b="1">
              <a:solidFill>
                <a:srgbClr val="2F74B0"/>
              </a:solidFill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20040" y="2240280"/>
            <a:ext cx="51206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91919"/>
                </a:solidFill>
                <a:latin typeface="Aptos"/>
              </a:rPr>
              <a:t>Data Analytics</a:t>
            </a:r>
            <a:endParaRPr sz="30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0040" y="3246120"/>
            <a:ext cx="5029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700" b="1">
                <a:solidFill>
                  <a:srgbClr val="2F74B0"/>
                </a:solidFill>
                <a:latin typeface="Aptos"/>
              </a:rPr>
              <a:t>An Internship Presentation Report</a:t>
            </a:r>
            <a:endParaRPr sz="1700" b="1">
              <a:solidFill>
                <a:srgbClr val="2F74B0"/>
              </a:solidFill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43891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191919"/>
                </a:solidFill>
                <a:latin typeface="Aptos"/>
              </a:rPr>
              <a:t>INTERNSHIP DURATION</a:t>
            </a:r>
            <a:br>
              <a:rPr sz="1200" b="1">
                <a:solidFill>
                  <a:srgbClr val="191919"/>
                </a:solidFill>
                <a:latin typeface="Aptos"/>
              </a:rPr>
            </a:br>
            <a:r>
              <a:rPr sz="1200" b="1">
                <a:solidFill>
                  <a:srgbClr val="191919"/>
                </a:solidFill>
                <a:latin typeface="Aptos"/>
              </a:rPr>
              <a:t>08 August 2026 – 07 September 2026</a:t>
            </a:r>
            <a:endParaRPr sz="1200" b="1">
              <a:solidFill>
                <a:srgbClr val="191919"/>
              </a:solidFill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172200" y="914400"/>
            <a:ext cx="5303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9B7EB"/>
                </a:solidFill>
                <a:latin typeface="Aptos"/>
              </a:rPr>
              <a:t>STUDENT CREDENTIALS</a:t>
            </a:r>
            <a:endParaRPr sz="1200" b="1">
              <a:solidFill>
                <a:srgbClr val="69B7EB"/>
              </a:solidFill>
              <a:latin typeface="Aptos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172200" y="1371600"/>
            <a:ext cx="5303520" cy="1828800"/>
          </a:xfrm>
          <a:prstGeom prst="roundRect">
            <a:avLst/>
          </a:prstGeom>
          <a:solidFill>
            <a:srgbClr val="273E6E"/>
          </a:solidFill>
          <a:ln>
            <a:solidFill>
              <a:srgbClr val="4D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500" b="1">
                <a:solidFill>
                  <a:srgbClr val="FFFFFF"/>
                </a:solidFill>
                <a:latin typeface="Aptos"/>
              </a:rPr>
              <a:t>Haidar Raj Ali</a:t>
            </a:r>
            <a:endParaRPr sz="2500" b="1">
              <a:solidFill>
                <a:srgbClr val="FFFFFF"/>
              </a:solidFill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46520" y="2331720"/>
            <a:ext cx="1632585" cy="4603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Enrollment / Roll No.</a:t>
            </a:r>
            <a:br>
              <a:rPr sz="1000" b="0">
                <a:solidFill>
                  <a:srgbClr val="FFFFFF"/>
                </a:solidFill>
                <a:latin typeface="Aptos"/>
              </a:rPr>
            </a:br>
            <a:r>
              <a:rPr lang="en-US" sz="1400" b="0">
                <a:solidFill>
                  <a:srgbClr val="FFFFFF"/>
                </a:solidFill>
                <a:latin typeface="Aptos"/>
              </a:rPr>
              <a:t>25SCS1003004846</a:t>
            </a:r>
            <a:endParaRPr lang="en-US" sz="14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732520" y="2331720"/>
            <a:ext cx="2377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Program</a:t>
            </a:r>
            <a:br>
              <a:rPr sz="1000" b="0">
                <a:solidFill>
                  <a:srgbClr val="FFFFFF"/>
                </a:solidFill>
                <a:latin typeface="Aptos"/>
              </a:rPr>
            </a:br>
            <a:r>
              <a:rPr sz="1000" b="0">
                <a:solidFill>
                  <a:srgbClr val="FFFFFF"/>
                </a:solidFill>
                <a:latin typeface="Aptos"/>
              </a:rPr>
              <a:t>B.Tech (CSE)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00800" y="5120640"/>
            <a:ext cx="4846320" cy="777240"/>
          </a:xfrm>
          <a:prstGeom prst="roundRect">
            <a:avLst/>
          </a:prstGeom>
          <a:solidFill>
            <a:srgbClr val="4797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29400" y="5321808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>
                <a:solidFill>
                  <a:srgbClr val="FFFFFF"/>
                </a:solidFill>
                <a:latin typeface="Aptos"/>
              </a:rPr>
              <a:t>HOST ORGANIZATION</a:t>
            </a:r>
            <a:br>
              <a:rPr sz="1000" b="0">
                <a:solidFill>
                  <a:srgbClr val="FFFFFF"/>
                </a:solidFill>
                <a:latin typeface="Aptos"/>
              </a:rPr>
            </a:br>
            <a:r>
              <a:rPr sz="1000" b="0">
                <a:solidFill>
                  <a:srgbClr val="FFFFFF"/>
                </a:solidFill>
                <a:latin typeface="Aptos"/>
              </a:rPr>
              <a:t>VirtualWorks Lab by Noivrn</a:t>
            </a:r>
            <a:endParaRPr sz="1000" b="0">
              <a:solidFill>
                <a:srgbClr val="FFFFFF"/>
              </a:solidFill>
              <a:latin typeface="Apto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559843"/>
            <a:ext cx="5334000" cy="263366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559843"/>
            <a:ext cx="5334000" cy="263366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864643"/>
            <a:ext cx="4910613" cy="314325"/>
          </a:xfrm>
          <a:prstGeom prst="rect">
            <a:avLst/>
          </a:prstGeom>
          <a:noFill/>
        </p:spPr>
        <p:txBody>
          <a:bodyPr wrap="square" lIns="36195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Candidate Details</a:t>
            </a:r>
            <a:endParaRPr sz="1650" b="1" i="0" u="none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Student Name: HAIDAR RAJ ALI</a:t>
            </a:r>
            <a:endParaRPr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925" y="3631406"/>
            <a:ext cx="4676775" cy="2444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Roll Numbe</a:t>
            </a:r>
            <a:r>
              <a:rPr lang="en-US">
                <a:latin typeface="Aptos"/>
              </a:rPr>
              <a:t>r: 25SCS1003004846</a:t>
            </a:r>
            <a:endParaRPr lang="en-US"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23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Degree: B.Tech (Computer Science &amp; Engineering)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23925" y="448103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Academic Batch: 2026-2027</a:t>
            </a:r>
            <a:endParaRPr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23925" y="479885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University: IILM University, Greater Noida, U.P.</a:t>
            </a:r>
            <a:endParaRPr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638925" y="2864643"/>
            <a:ext cx="4910613" cy="314325"/>
          </a:xfrm>
          <a:prstGeom prst="rect">
            <a:avLst/>
          </a:prstGeom>
          <a:noFill/>
        </p:spPr>
        <p:txBody>
          <a:bodyPr wrap="square" lIns="304800" tIns="0" rIns="0" bIns="0" anchor="t">
            <a:spAutoFit/>
          </a:bodyPr>
          <a:lstStyle/>
          <a:p>
            <a:pPr algn="l"/>
            <a:r>
              <a:rPr sz="1650" b="1" i="0" u="none">
                <a:solidFill>
                  <a:srgbClr val="1E3A8A"/>
                </a:solidFill>
                <a:latin typeface="Poppins"/>
              </a:rPr>
              <a:t>Internship Profile</a:t>
            </a:r>
            <a:endParaRPr sz="1650" b="1" i="0" u="none">
              <a:solidFill>
                <a:srgbClr val="1E3A8A"/>
              </a:solidFill>
              <a:latin typeface="Poppin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38925" y="329326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Program Name: VirtualWorks Lab Internship</a:t>
            </a:r>
            <a:endParaRPr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638925" y="3631406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Specialization Domain: Data Analytics</a:t>
            </a:r>
            <a:endParaRPr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638925" y="3969543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Duration: 08 Aug 2026 – 07 Sep 2026</a:t>
            </a:r>
            <a:endParaRPr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38925" y="4307681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Internship ID: VWX-AUG26TOSEP26-834</a:t>
            </a:r>
            <a:endParaRPr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38925" y="4645818"/>
            <a:ext cx="4676775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Total Hours: 155 Hours</a:t>
            </a:r>
            <a:endParaRPr>
              <a:latin typeface="Aptos"/>
            </a:endParaRP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912268"/>
            <a:ext cx="266700" cy="2095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2912268"/>
            <a:ext cx="209550" cy="2095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Candidate &amp; Program Overview</a:t>
            </a:r>
            <a:endParaRPr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066925"/>
            <a:ext cx="5334000" cy="36195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066925"/>
            <a:ext cx="5334000" cy="82287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>
                <a:latin typeface="Aptos"/>
              </a:rPr>
              <a:t>VirtualWorks Lab is an educational initiative by Noivrn. The supplied internship certificate verifies successful completion in the Data Analytics domain.</a:t>
            </a:r>
            <a:endParaRPr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550" y="3080295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Internship Period: 08 August 2026 – 07 September 2026.</a:t>
            </a:r>
            <a:endParaRPr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550" y="3980408"/>
            <a:ext cx="4933950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Total Engagement: 155 hours of internship work.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1550" y="4880520"/>
            <a:ext cx="4933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Credential: Certificate of Completion + Performance Evaluation Report.</a:t>
            </a:r>
            <a:endParaRPr>
              <a:latin typeface="Aptos"/>
            </a:endParaRP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3094583"/>
            <a:ext cx="26670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3994695"/>
            <a:ext cx="26670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" y="4894808"/>
            <a:ext cx="209550" cy="219075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Organization Profile: VirtualWorks Lab</a:t>
            </a:r>
            <a:endParaRPr>
              <a:latin typeface="Apto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91382"/>
            <a:ext cx="5334000" cy="277058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491382"/>
            <a:ext cx="5334000" cy="27705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23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The Analytics Challenge</a:t>
            </a:r>
            <a:endParaRPr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3925" y="3224807"/>
            <a:ext cx="4676775" cy="9751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>
                <a:latin typeface="Aptos"/>
              </a:rPr>
              <a:t>The recorded internship tasks required working across data cleaning, dashboards, geospatial analysis, customer churn, and web traffic analytics.</a:t>
            </a:r>
            <a:endParaRPr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23925" y="4314229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>
                <a:latin typeface="Aptos"/>
              </a:rPr>
              <a:t>The practical challenge was to transform datasets into reliable, interpretable analytical outputs and document the work clearly.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638925" y="2796182"/>
            <a:ext cx="4910613" cy="314325"/>
          </a:xfrm>
          <a:prstGeom prst="rect">
            <a:avLst/>
          </a:prstGeom>
          <a:noFill/>
        </p:spPr>
        <p:txBody>
          <a:bodyPr wrap="square" lIns="28575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The Internship Scope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638925" y="3224807"/>
            <a:ext cx="4676775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20"/>
              </a:lnSpc>
            </a:pPr>
            <a:r>
              <a:rPr>
                <a:latin typeface="Aptos"/>
              </a:rPr>
              <a:t>The five recorded project areas cover data preparation, visualization-oriented presentation, and analytical study of geographic, customer, and web activity data.</a:t>
            </a:r>
            <a:endParaRPr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638925" y="4314924"/>
            <a:ext cx="4676775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5"/>
              </a:lnSpc>
            </a:pPr>
            <a:r>
              <a:rPr>
                <a:latin typeface="Aptos"/>
              </a:rPr>
              <a:t>The supplied credential does not specify the software stack; exact tools can be added by the student before submission.</a:t>
            </a:r>
            <a:endParaRPr>
              <a:latin typeface="Aptos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3925" y="2843807"/>
            <a:ext cx="209550" cy="2095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925" y="2843807"/>
            <a:ext cx="209550" cy="2095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Problem Statement &amp; Internship Context</a:t>
            </a:r>
            <a:endParaRPr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3878"/>
            <a:ext cx="2583656" cy="2845593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81" y="2453878"/>
            <a:ext cx="2583656" cy="2845593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453878"/>
            <a:ext cx="2583656" cy="2845593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3" y="2453878"/>
            <a:ext cx="2583656" cy="284559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Data Preparation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Data Cleaning &amp; Structural Validation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631406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Data Visualization</a:t>
            </a:r>
            <a:endParaRPr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1406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Interactive Dashboard Development</a:t>
            </a:r>
            <a:endParaRPr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53187" y="3320653"/>
            <a:ext cx="2212776" cy="571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Analytical Applications</a:t>
            </a:r>
            <a:endParaRPr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53187" y="398740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Geospatial • Customer Churn • Web Traffic</a:t>
            </a:r>
            <a:endParaRPr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274968" y="332065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Performance &amp; Delivery</a:t>
            </a:r>
            <a:endParaRPr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74968" y="3701653"/>
            <a:ext cx="2107406" cy="10358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Problem Solving • Documentation • Timeliness</a:t>
            </a:r>
            <a:endParaRPr>
              <a:latin typeface="Aptos"/>
            </a:endParaRP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68203"/>
            <a:ext cx="361950" cy="3619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1406" y="2768203"/>
            <a:ext cx="457200" cy="3619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187" y="2768203"/>
            <a:ext cx="457200" cy="3619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4968" y="2768203"/>
            <a:ext cx="361950" cy="36195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Core Internship Objectives</a:t>
            </a:r>
            <a:endParaRPr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455068"/>
            <a:ext cx="2583656" cy="28432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3281" y="2455068"/>
            <a:ext cx="2583656" cy="28432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062" y="2455068"/>
            <a:ext cx="2583656" cy="28432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36843" y="2455068"/>
            <a:ext cx="2583656" cy="284321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Visualization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09625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Interactive dashboard-oriented work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9625" y="4400550"/>
            <a:ext cx="2107406" cy="41783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Exact tools/software: </a:t>
            </a:r>
            <a:endParaRPr>
              <a:latin typeface="Aptos"/>
            </a:endParaRPr>
          </a:p>
          <a:p>
            <a:pPr algn="l">
              <a:lnSpc>
                <a:spcPts val="1630"/>
              </a:lnSpc>
            </a:pPr>
            <a:r>
              <a:rPr lang="en-US">
                <a:latin typeface="Aptos"/>
              </a:rPr>
              <a:t>Power BI &amp; Tableau</a:t>
            </a:r>
            <a:endParaRPr lang="en-US">
              <a:latin typeface="Apto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31406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Data Preparation</a:t>
            </a:r>
            <a:endParaRPr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631406" y="3702843"/>
            <a:ext cx="2107406" cy="621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Data cleaning &amp; structural validation</a:t>
            </a:r>
            <a:endParaRPr>
              <a:latin typeface="Apto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31406" y="4400550"/>
            <a:ext cx="2107406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Exact tools/software:</a:t>
            </a:r>
            <a:endParaRPr>
              <a:latin typeface="Aptos"/>
            </a:endParaRPr>
          </a:p>
          <a:p>
            <a:pPr algn="l">
              <a:lnSpc>
                <a:spcPts val="1630"/>
              </a:lnSpc>
            </a:pPr>
            <a:r>
              <a:rPr lang="en-US">
                <a:latin typeface="Aptos"/>
              </a:rPr>
              <a:t>Microsoft Excel &amp; Phyton and Pandas</a:t>
            </a:r>
            <a:r>
              <a:rPr>
                <a:latin typeface="Aptos"/>
              </a:rPr>
              <a:t> </a:t>
            </a:r>
            <a:endParaRPr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53187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Analytics</a:t>
            </a:r>
            <a:endParaRPr>
              <a:latin typeface="Apto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3187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Geospatial • Churn • Web Traffic</a:t>
            </a:r>
            <a:endParaRPr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3187" y="4193381"/>
            <a:ext cx="2107406" cy="6267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Exact tools/software: </a:t>
            </a:r>
            <a:endParaRPr>
              <a:latin typeface="Aptos"/>
            </a:endParaRPr>
          </a:p>
          <a:p>
            <a:pPr algn="l">
              <a:lnSpc>
                <a:spcPts val="1630"/>
              </a:lnSpc>
            </a:pPr>
            <a:r>
              <a:rPr lang="en-US">
                <a:latin typeface="Aptos"/>
              </a:rPr>
              <a:t>Phyton, Numpy &amp; Excel &amp; SQL</a:t>
            </a:r>
            <a:endParaRPr lang="en-US">
              <a:latin typeface="Apto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274968" y="3321843"/>
            <a:ext cx="221277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Documentation</a:t>
            </a:r>
            <a:endParaRPr>
              <a:latin typeface="Apto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74968" y="3702843"/>
            <a:ext cx="2107406" cy="4143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Project records and evaluation evidence</a:t>
            </a:r>
            <a:endParaRPr>
              <a:latin typeface="Apto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274968" y="4193381"/>
            <a:ext cx="2107406" cy="8356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0"/>
              </a:lnSpc>
            </a:pPr>
            <a:r>
              <a:rPr>
                <a:latin typeface="Aptos"/>
              </a:rPr>
              <a:t>Exact tools/software: </a:t>
            </a:r>
            <a:endParaRPr>
              <a:latin typeface="Aptos"/>
            </a:endParaRPr>
          </a:p>
          <a:p>
            <a:pPr algn="l">
              <a:lnSpc>
                <a:spcPts val="1630"/>
              </a:lnSpc>
            </a:pPr>
            <a:r>
              <a:rPr lang="en-US">
                <a:latin typeface="Aptos"/>
              </a:rPr>
              <a:t>Microsoft PowerPoint &amp; Microsoft Word </a:t>
            </a:r>
            <a:endParaRPr lang="en-US">
              <a:latin typeface="Aptos"/>
            </a:endParaRP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769393"/>
            <a:ext cx="314325" cy="3619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31406" y="2769393"/>
            <a:ext cx="457200" cy="361950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53187" y="2769393"/>
            <a:ext cx="361950" cy="361950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274968" y="2769393"/>
            <a:ext cx="361950" cy="36195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Technologies &amp; Tools Used</a:t>
            </a:r>
            <a:endParaRPr>
              <a:latin typeface="Apto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76250" y="1690687"/>
            <a:ext cx="5400675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Data Analytics Workflow</a:t>
            </a:r>
            <a:endParaRPr>
              <a:latin typeface="Aptos"/>
            </a:endParaRP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9525"/>
            <a:ext cx="6096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76300" y="2366962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Data Input: Source datasets / records.</a:t>
            </a:r>
            <a:endParaRPr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6300" y="2781300"/>
            <a:ext cx="47434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Cleaning &amp; Validation: Data quality and structural checks.</a:t>
            </a:r>
            <a:endParaRPr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6300" y="319563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Analysis: Geospatial, churn and web traffic tasks.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76300" y="3852862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Visualization: Interactive dashboard development.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76300" y="4510087"/>
            <a:ext cx="47434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Insights: Findings documented for academic evaluation.</a:t>
            </a:r>
            <a:endParaRPr>
              <a:latin typeface="Aptos"/>
            </a:endParaRP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6250" y="2381250"/>
            <a:ext cx="238125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50" y="2795587"/>
            <a:ext cx="26670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" y="3209925"/>
            <a:ext cx="180975" cy="21907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6250" y="3867150"/>
            <a:ext cx="238125" cy="2190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6250" y="4524375"/>
            <a:ext cx="238125" cy="2190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Task 1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AI Deployment &amp; FastAPI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AI lifecycle, MLOps terminology, async API endpoints, and production readiness.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Task 2</a:t>
            </a:r>
            <a:endParaRPr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Docker &amp; CI/CD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Dockerfiles, container volumes, networking, and automated CI/CD for machine learning.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Task 3</a:t>
            </a:r>
            <a:endParaRPr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Cloud AI &amp; GenAI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SageMaker, Vertex AI, Azure ML, vLLM serving, and model quantization techniques.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Task 4</a:t>
            </a:r>
            <a:endParaRPr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AI Agents &amp; Automation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LangChain, LlamaIndex, agent orchestration using LangGraph workflows.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Internship Task Portfolio (1–4)</a:t>
            </a:r>
            <a:endParaRPr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210050"/>
            <a:ext cx="2541240" cy="13692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07419" y="2364581"/>
            <a:ext cx="2541240" cy="13692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3339" y="4210050"/>
            <a:ext cx="2541240" cy="13692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9259" y="2364581"/>
            <a:ext cx="2541240" cy="136921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95287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799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Task 5</a:t>
            </a:r>
            <a:endParaRPr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2475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Security &amp; App Integration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Streamlit/Gradio apps, model security, privacy, and bias mitigation strategies.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53391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Evaluation</a:t>
            </a:r>
            <a:endParaRPr>
              <a:latin typeface="Apto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58839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Kubernetes &amp; Observability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Container orchestration, Pods, Services, Prometheus, and Grafana logging.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369832" y="4391025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Grade</a:t>
            </a:r>
            <a:endParaRPr>
              <a:latin typeface="Apto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24314" y="4705350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Optimization &amp; Drift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Evidently AI drift detection, auto-retraining, Advanced RAG, and Vector DBs.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05752" y="2545556"/>
            <a:ext cx="2288254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>
                <a:latin typeface="Aptos"/>
              </a:rPr>
              <a:t>Hours</a:t>
            </a:r>
            <a:endParaRPr>
              <a:latin typeface="Apto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9260234" y="2859881"/>
            <a:ext cx="2179290" cy="6929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65"/>
              </a:lnSpc>
            </a:pPr>
            <a:r>
              <a:rPr sz="975" b="1" i="0" u="none">
                <a:solidFill>
                  <a:srgbClr val="475569"/>
                </a:solidFill>
                <a:latin typeface="Inter"/>
              </a:rPr>
              <a:t>Applied Capstone</a:t>
            </a:r>
            <a:r>
              <a:t>
</a:t>
            </a:r>
            <a:r>
              <a:rPr sz="975" b="0" i="0" u="none">
                <a:solidFill>
                  <a:srgbClr val="475569"/>
                </a:solidFill>
                <a:latin typeface="Inter"/>
              </a:rPr>
              <a:t> End-to-end full-stack RAG app deployment, business automation AI agents.</a:t>
            </a:r>
            <a:endParaRPr sz="975" b="0" i="0" u="none">
              <a:solidFill>
                <a:srgbClr val="475569"/>
              </a:solidFill>
              <a:latin typeface="Inter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Task Portfolio &amp; Evaluation</a:t>
            </a:r>
            <a:endParaRPr>
              <a:latin typeface="Apto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75639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592315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42823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0264154" y="3886200"/>
            <a:ext cx="171450" cy="17145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2563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71550" y="2355056"/>
            <a:ext cx="10648950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Interactive Dashboard Development: Completed as a recorded internship project (Grade A).</a:t>
            </a:r>
            <a:endParaRPr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71550" y="276939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Geospatial Data Analysis: Completed as a recorded internship project (Grade A).</a:t>
            </a:r>
            <a:endParaRPr>
              <a:latin typeface="Apto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971550" y="342661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Customer Churn Analysis: Completed as a recorded internship project (Grade B).</a:t>
            </a:r>
            <a:endParaRPr>
              <a:latin typeface="Apto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71550" y="4083843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Web Traffic Analytics: Completed as a recorded internship project (Grade B).</a:t>
            </a:r>
            <a:endParaRPr>
              <a:latin typeface="Apto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71550" y="4741068"/>
            <a:ext cx="10648950" cy="4857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0"/>
              </a:lnSpc>
            </a:pPr>
            <a:r>
              <a:rPr>
                <a:latin typeface="Aptos"/>
              </a:rPr>
              <a:t>Data Cleaning &amp; Structural Validation: Completed as a recorded internship project (Grade A).</a:t>
            </a:r>
            <a:endParaRPr>
              <a:latin typeface="Aptos"/>
            </a:endParaRP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369343"/>
            <a:ext cx="209550" cy="219075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2783681"/>
            <a:ext cx="209550" cy="21907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3440906"/>
            <a:ext cx="209550" cy="21907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098131"/>
            <a:ext cx="209550" cy="21907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4755356"/>
            <a:ext cx="209550" cy="219075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Key Projects &amp; Demonstrated Skills</a:t>
            </a:r>
            <a:endParaRPr>
              <a:latin typeface="Aptos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581025" y="30694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66083" y="30694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81025" y="35790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666083" y="35790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1025" y="4088606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66083" y="4088606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81025" y="46458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66083" y="46458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81025" y="5203031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666083" y="5203031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81025" y="5712618"/>
            <a:ext cx="308505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66083" y="5712618"/>
            <a:ext cx="794489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1500" y="476250"/>
            <a:ext cx="116014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>
                <a:latin typeface="Aptos"/>
              </a:rPr>
              <a:t>Performance Evaluation &amp; Verification</a:t>
            </a:r>
            <a:endParaRPr>
              <a:latin typeface="Apto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731520" y="1554480"/>
          <a:ext cx="1060704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7680960"/>
              </a:tblGrid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Verification Metric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3275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</a:rPr>
                        <a:t>Official Record</a:t>
                      </a:r>
                      <a:endParaRPr sz="1200" b="1">
                        <a:solidFill>
                          <a:srgbClr val="FFFFFF"/>
                        </a:solidFill>
                      </a:endParaRPr>
                    </a:p>
                  </a:txBody>
                  <a:tcPr>
                    <a:solidFill>
                      <a:srgbClr val="13275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Internship ID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VWX-AUG26TOSEP26-834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Domain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Data Analytics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Duration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08 Aug 2026 – 07 Sep 2026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Total Hours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155 Hours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  <a:tr h="613954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Final Score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92 / 100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  <a:tr h="61395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latin typeface="Aptos"/>
                        </a:rPr>
                        <a:t>Overall Grade</a:t>
                      </a:r>
                      <a:endParaRPr sz="1100" b="1">
                        <a:latin typeface="Aptos"/>
                      </a:endParaRPr>
                    </a:p>
                  </a:txBody>
                  <a:tcPr>
                    <a:solidFill>
                      <a:srgbClr val="EBF3F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latin typeface="Aptos"/>
                        </a:rPr>
                        <a:t>A (Excellent)</a:t>
                      </a:r>
                      <a:endParaRPr sz="1100" b="0">
                        <a:latin typeface="Aptos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9509185" cy="841045"/>
          </a:xfrm>
        </p:spPr>
        <p:txBody>
          <a:bodyPr>
            <a:normAutofit/>
          </a:bodyPr>
          <a:lstStyle/>
          <a:p>
            <a:pPr algn="l"/>
            <a:r>
              <a:rPr lang="en-IN" sz="2800" b="1" dirty="0">
                <a:solidFill>
                  <a:srgbClr val="0F172A"/>
                </a:solidFill>
                <a:latin typeface="Poppins"/>
              </a:rPr>
              <a:t>Certification &amp; Official Verification</a:t>
            </a:r>
            <a:endParaRPr lang="en-IN" dirty="0"/>
          </a:p>
        </p:txBody>
      </p:sp>
      <p:sp>
        <p:nvSpPr>
          <p:cNvPr id="6" name="Rectangle 5"/>
          <p:cNvSpPr/>
          <p:nvPr/>
        </p:nvSpPr>
        <p:spPr>
          <a:xfrm>
            <a:off x="571500" y="1057275"/>
            <a:ext cx="11049000" cy="28575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virtualworks_cert_page_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65960" y="1115695"/>
            <a:ext cx="8229600" cy="53289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110751" y="1662112"/>
            <a:ext cx="3970496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5100" b="1" i="0" u="none" dirty="0">
                <a:solidFill>
                  <a:srgbClr val="0F172A"/>
                </a:solidFill>
                <a:latin typeface="Poppins"/>
              </a:rPr>
              <a:t>Thank You!</a:t>
            </a:r>
            <a:endParaRPr sz="510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248275" y="4119562"/>
            <a:ext cx="9525" cy="3810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38475" y="3719512"/>
            <a:ext cx="1828800" cy="314325"/>
          </a:xfrm>
          <a:prstGeom prst="rect">
            <a:avLst/>
          </a:prstGeom>
          <a:noFill/>
        </p:spPr>
        <p:txBody>
          <a:bodyPr wrap="square" lIns="295275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>
                <a:latin typeface="Aptos"/>
              </a:rPr>
              <a:t>Haidar Raj Ali</a:t>
            </a:r>
            <a:endParaRPr>
              <a:latin typeface="Apto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093085" y="4264660"/>
            <a:ext cx="2164715" cy="4038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>
                <a:latin typeface="Aptos"/>
              </a:rPr>
              <a:t>Roll No: </a:t>
            </a:r>
            <a:r>
              <a:rPr lang="en-US">
                <a:latin typeface="Aptos"/>
              </a:rPr>
              <a:t>25SCS1003004846</a:t>
            </a:r>
            <a:endParaRPr lang="en-US">
              <a:latin typeface="Apto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638800" y="3719512"/>
            <a:ext cx="3514725" cy="314325"/>
          </a:xfrm>
          <a:prstGeom prst="rect">
            <a:avLst/>
          </a:prstGeom>
          <a:noFill/>
        </p:spPr>
        <p:txBody>
          <a:bodyPr wrap="square" lIns="323850" tIns="0" rIns="0" bIns="0" anchor="t">
            <a:spAutoFit/>
          </a:bodyPr>
          <a:lstStyle/>
          <a:p>
            <a:pPr algn="l">
              <a:lnSpc>
                <a:spcPts val="2475"/>
              </a:lnSpc>
            </a:pPr>
            <a:r>
              <a:rPr sz="1650" b="0" i="0" u="none">
                <a:solidFill>
                  <a:srgbClr val="1E293B"/>
                </a:solidFill>
                <a:latin typeface="Inter SemiBold"/>
              </a:rPr>
              <a:t>School of Computer Science &amp; Engineering</a:t>
            </a:r>
            <a:endParaRPr sz="1650" b="0" i="0" u="none">
              <a:solidFill>
                <a:srgbClr val="1E293B"/>
              </a:solidFill>
              <a:latin typeface="Inter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638800" y="4367212"/>
            <a:ext cx="3514725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64748B"/>
                </a:solidFill>
                <a:latin typeface="Inter"/>
              </a:rPr>
              <a:t>IILM University, Greater Noida, U.P.</a:t>
            </a:r>
            <a:endParaRPr sz="1050" b="0" i="0" u="none">
              <a:solidFill>
                <a:srgbClr val="64748B"/>
              </a:solidFill>
              <a:latin typeface="Inter"/>
            </a:endParaRP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38475" y="3748087"/>
            <a:ext cx="200025" cy="2286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38800" y="3748087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4368</Words>
  <Application>WPS Presentation</Application>
  <PresentationFormat>Widescreen</PresentationFormat>
  <Paragraphs>220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13</vt:i4>
      </vt:variant>
    </vt:vector>
  </HeadingPairs>
  <TitlesOfParts>
    <vt:vector size="27" baseType="lpstr">
      <vt:lpstr>Arial</vt:lpstr>
      <vt:lpstr>SimSun</vt:lpstr>
      <vt:lpstr>Wingdings</vt:lpstr>
      <vt:lpstr>Arial</vt:lpstr>
      <vt:lpstr>Aptos</vt:lpstr>
      <vt:lpstr>Segoe UI</vt:lpstr>
      <vt:lpstr>Poppins</vt:lpstr>
      <vt:lpstr>Segoe Print</vt:lpstr>
      <vt:lpstr>Inter</vt:lpstr>
      <vt:lpstr>Inter SemiBold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Certification &amp; Official Verification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Haidar Ali</cp:lastModifiedBy>
  <cp:revision>4</cp:revision>
  <dcterms:created xsi:type="dcterms:W3CDTF">2013-01-27T09:14:00Z</dcterms:created>
  <dcterms:modified xsi:type="dcterms:W3CDTF">2026-08-28T10:48:32Z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7E0D3562E61F44058C819E2A401458E7_12</vt:lpwstr>
  </property>
</Properties>
</file>